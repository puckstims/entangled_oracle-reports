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0fd8b76814ecc" /><Relationship Type="http://schemas.openxmlformats.org/officeDocument/2006/relationships/extended-properties" Target="/docProps/app.xml" Id="R1c8a3b91913f4ebd" /><Relationship Type="http://schemas.openxmlformats.org/officeDocument/2006/relationships/officeDocument" Target="/ppt/presentation.xml" Id="R878bfe031b45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30a154f57d4905"/>
  </p:sldMasterIdLst>
  <p:notesMasterIdLst>
    <p:notesMasterId xmlns:r="http://schemas.openxmlformats.org/officeDocument/2006/relationships" r:id="Radd0224065764dcf"/>
  </p:notesMasterIdLst>
  <p:sldIdLst>
    <p:sldId xmlns:r="http://schemas.openxmlformats.org/officeDocument/2006/relationships" id="256" r:id="Rcff8dc56157f44cb"/>
    <p:sldId xmlns:r="http://schemas.openxmlformats.org/officeDocument/2006/relationships" id="257" r:id="R5bd89b263e894f56"/>
    <p:sldId xmlns:r="http://schemas.openxmlformats.org/officeDocument/2006/relationships" id="258" r:id="R4168e5e2d9cc4526"/>
    <p:sldId xmlns:r="http://schemas.openxmlformats.org/officeDocument/2006/relationships" id="259" r:id="R73451500c579453f"/>
    <p:sldId xmlns:r="http://schemas.openxmlformats.org/officeDocument/2006/relationships" id="260" r:id="R42bc705286a24b38"/>
    <p:sldId xmlns:r="http://schemas.openxmlformats.org/officeDocument/2006/relationships" id="261" r:id="R27d93fd6f15544fa"/>
    <p:sldId xmlns:r="http://schemas.openxmlformats.org/officeDocument/2006/relationships" id="262" r:id="R0abdbca525ac43c9"/>
    <p:sldId xmlns:r="http://schemas.openxmlformats.org/officeDocument/2006/relationships" id="263" r:id="R52d9b93648cd4aac"/>
    <p:sldId xmlns:r="http://schemas.openxmlformats.org/officeDocument/2006/relationships" id="264" r:id="R22ac55da792d47dd"/>
    <p:sldId xmlns:r="http://schemas.openxmlformats.org/officeDocument/2006/relationships" id="265" r:id="R353a0ab12aa2437c"/>
    <p:sldId xmlns:r="http://schemas.openxmlformats.org/officeDocument/2006/relationships" id="266" r:id="R306d324f2e3446fd"/>
    <p:sldId xmlns:r="http://schemas.openxmlformats.org/officeDocument/2006/relationships" id="267" r:id="R6d6de70b8e0f4476"/>
    <p:sldId xmlns:r="http://schemas.openxmlformats.org/officeDocument/2006/relationships" id="268" r:id="R23793eda78194d9e"/>
    <p:sldId xmlns:r="http://schemas.openxmlformats.org/officeDocument/2006/relationships" id="269" r:id="R5b55616163a647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76ab2d1e548f7" /><Relationship Type="http://schemas.openxmlformats.org/officeDocument/2006/relationships/slideMaster" Target="/ppt/slideMasters/slideMaster1.xml" Id="R2d30a154f57d4905" /><Relationship Type="http://schemas.openxmlformats.org/officeDocument/2006/relationships/notesMaster" Target="/ppt/notesMasters/notesMaster1.xml" Id="Radd0224065764dcf" /><Relationship Type="http://schemas.openxmlformats.org/officeDocument/2006/relationships/presProps" Target="/ppt/presProps.xml" Id="R128add6258584d65" /><Relationship Type="http://schemas.openxmlformats.org/officeDocument/2006/relationships/tableStyles" Target="/ppt/tableStyles.xml" Id="R7dfe2f0d53434c23" /><Relationship Type="http://schemas.openxmlformats.org/officeDocument/2006/relationships/slide" Target="/ppt/slides/slide1.xml" Id="Rcff8dc56157f44cb" /><Relationship Type="http://schemas.openxmlformats.org/officeDocument/2006/relationships/slide" Target="/ppt/slides/slide2.xml" Id="R5bd89b263e894f56" /><Relationship Type="http://schemas.openxmlformats.org/officeDocument/2006/relationships/slide" Target="/ppt/slides/slide3.xml" Id="R4168e5e2d9cc4526" /><Relationship Type="http://schemas.openxmlformats.org/officeDocument/2006/relationships/slide" Target="/ppt/slides/slide4.xml" Id="R73451500c579453f" /><Relationship Type="http://schemas.openxmlformats.org/officeDocument/2006/relationships/slide" Target="/ppt/slides/slide5.xml" Id="R42bc705286a24b38" /><Relationship Type="http://schemas.openxmlformats.org/officeDocument/2006/relationships/slide" Target="/ppt/slides/slide6.xml" Id="R27d93fd6f15544fa" /><Relationship Type="http://schemas.openxmlformats.org/officeDocument/2006/relationships/slide" Target="/ppt/slides/slide7.xml" Id="R0abdbca525ac43c9" /><Relationship Type="http://schemas.openxmlformats.org/officeDocument/2006/relationships/slide" Target="/ppt/slides/slide8.xml" Id="R52d9b93648cd4aac" /><Relationship Type="http://schemas.openxmlformats.org/officeDocument/2006/relationships/slide" Target="/ppt/slides/slide9.xml" Id="R22ac55da792d47dd" /><Relationship Type="http://schemas.openxmlformats.org/officeDocument/2006/relationships/slide" Target="/ppt/slides/slide10.xml" Id="R353a0ab12aa2437c" /><Relationship Type="http://schemas.openxmlformats.org/officeDocument/2006/relationships/slide" Target="/ppt/slides/slide11.xml" Id="R306d324f2e3446fd" /><Relationship Type="http://schemas.openxmlformats.org/officeDocument/2006/relationships/slide" Target="/ppt/slides/slide12.xml" Id="R6d6de70b8e0f4476" /><Relationship Type="http://schemas.openxmlformats.org/officeDocument/2006/relationships/slide" Target="/ppt/slides/slide13.xml" Id="R23793eda78194d9e" /><Relationship Type="http://schemas.openxmlformats.org/officeDocument/2006/relationships/slide" Target="/ppt/slides/slide14.xml" Id="R5b55616163a6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aa463ae50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fb8e8f929416e" /><Relationship Type="http://schemas.openxmlformats.org/officeDocument/2006/relationships/notesMaster" Target="/ppt/notesMasters/notesMaster1.xml" Id="R119a433695c942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119550ffbf49a1" /><Relationship Type="http://schemas.openxmlformats.org/officeDocument/2006/relationships/notesMaster" Target="/ppt/notesMasters/notesMaster1.xml" Id="Rd431383cefa14c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d483f7cba4051" /><Relationship Type="http://schemas.openxmlformats.org/officeDocument/2006/relationships/notesMaster" Target="/ppt/notesMasters/notesMaster1.xml" Id="R7ebd3fa204e7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9f3ab6faa47d5" /><Relationship Type="http://schemas.openxmlformats.org/officeDocument/2006/relationships/notesMaster" Target="/ppt/notesMasters/notesMaster1.xml" Id="R4dfe8823dfce49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d575b2c5e4ac3" /><Relationship Type="http://schemas.openxmlformats.org/officeDocument/2006/relationships/notesMaster" Target="/ppt/notesMasters/notesMaster1.xml" Id="R8b7b6a448277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67e8ddd64341d3" /><Relationship Type="http://schemas.openxmlformats.org/officeDocument/2006/relationships/notesMaster" Target="/ppt/notesMasters/notesMaster1.xml" Id="R308b238fcd14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71e1a6414141a8" /><Relationship Type="http://schemas.openxmlformats.org/officeDocument/2006/relationships/notesMaster" Target="/ppt/notesMasters/notesMaster1.xml" Id="R1d9b571b671b49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afd593a585443a" /><Relationship Type="http://schemas.openxmlformats.org/officeDocument/2006/relationships/notesMaster" Target="/ppt/notesMasters/notesMaster1.xml" Id="Re5e3ef56f2554f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eff98abc0549ff" /><Relationship Type="http://schemas.openxmlformats.org/officeDocument/2006/relationships/notesMaster" Target="/ppt/notesMasters/notesMaster1.xml" Id="R59918bbc0e6b4f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93e9b71d024c03" /><Relationship Type="http://schemas.openxmlformats.org/officeDocument/2006/relationships/notesMaster" Target="/ppt/notesMasters/notesMaster1.xml" Id="R90a83d86a83c4c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4e623b445c4f3e" /><Relationship Type="http://schemas.openxmlformats.org/officeDocument/2006/relationships/notesMaster" Target="/ppt/notesMasters/notesMaster1.xml" Id="Rd04d00d3719f44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6bb83d6e884eba" /><Relationship Type="http://schemas.openxmlformats.org/officeDocument/2006/relationships/notesMaster" Target="/ppt/notesMasters/notesMaster1.xml" Id="R80a7d0da9ea546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b9edc5fa0a4d26" /><Relationship Type="http://schemas.openxmlformats.org/officeDocument/2006/relationships/notesMaster" Target="/ppt/notesMasters/notesMaster1.xml" Id="R6efa2a9d275044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33edcd835b4e1c" /><Relationship Type="http://schemas.openxmlformats.org/officeDocument/2006/relationships/notesMaster" Target="/ppt/notesMasters/notesMaster1.xml" Id="Re2133ba3e77b4c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9343323cb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eb9994129e4cc2" /><Relationship Type="http://schemas.openxmlformats.org/officeDocument/2006/relationships/slideLayout" Target="/ppt/slideLayouts/slideLayout1.xml" Id="R95f52d71bc4a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52d71bc4a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fccc77d4e444e" /><Relationship Type="http://schemas.openxmlformats.org/officeDocument/2006/relationships/image" Target="/ppt/media/image.png" Id="Rd07faa138dad40bd" /><Relationship Type="http://schemas.openxmlformats.org/officeDocument/2006/relationships/notesSlide" Target="/ppt/notesSlides/notesSlide1.xml" Id="Rd5afa777c528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3f0eed8e473a" /><Relationship Type="http://schemas.openxmlformats.org/officeDocument/2006/relationships/notesSlide" Target="/ppt/notesSlides/notesSlide2.xml" Id="R3dbacb552d9a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0371ad24444c" /><Relationship Type="http://schemas.openxmlformats.org/officeDocument/2006/relationships/notesSlide" Target="/ppt/notesSlides/notesSlide3.xml" Id="R448f769d804d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6ab9f5d7744f9" /><Relationship Type="http://schemas.openxmlformats.org/officeDocument/2006/relationships/notesSlide" Target="/ppt/notesSlides/notesSlide4.xml" Id="R10b2584dff9c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e591cf3c4947" /><Relationship Type="http://schemas.openxmlformats.org/officeDocument/2006/relationships/notesSlide" Target="/ppt/notesSlides/notesSlide5.xml" Id="Rbdd11a4707c1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9b927ac5749bb" /><Relationship Type="http://schemas.openxmlformats.org/officeDocument/2006/relationships/notesSlide" Target="/ppt/notesSlides/notesSlide6.xml" Id="R31282d65067447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9d966a3b4a2a" /><Relationship Type="http://schemas.openxmlformats.org/officeDocument/2006/relationships/notesSlide" Target="/ppt/notesSlides/notesSlide7.xml" Id="R19f910b1936146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4c447aca4b65" /><Relationship Type="http://schemas.openxmlformats.org/officeDocument/2006/relationships/notesSlide" Target="/ppt/notesSlides/notesSlide8.xml" Id="R3be313a1cad24a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88c701974010" /><Relationship Type="http://schemas.openxmlformats.org/officeDocument/2006/relationships/notesSlide" Target="/ppt/notesSlides/notesSlide9.xml" Id="Rdcbb8e49a5c84d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5b56b82944a03" /><Relationship Type="http://schemas.openxmlformats.org/officeDocument/2006/relationships/notesSlide" Target="/ppt/notesSlides/notesSlide10.xml" Id="R8f6c3511363043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4abc44c834ede" /><Relationship Type="http://schemas.openxmlformats.org/officeDocument/2006/relationships/notesSlide" Target="/ppt/notesSlides/notesSlide11.xml" Id="R9137b49daad148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c280d0a7343ec" /><Relationship Type="http://schemas.openxmlformats.org/officeDocument/2006/relationships/notesSlide" Target="/ppt/notesSlides/notesSlide12.xml" Id="R49a7b318763c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6f3e9b5664256" /><Relationship Type="http://schemas.openxmlformats.org/officeDocument/2006/relationships/notesSlide" Target="/ppt/notesSlides/notesSlide13.xml" Id="R8b1ee626c1c944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2ef1c1212491a" /><Relationship Type="http://schemas.openxmlformats.org/officeDocument/2006/relationships/notesSlide" Target="/ppt/notesSlides/notesSlide14.xml" Id="R25547455fe5247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92A28-935F-453A-8AA2-E7913A1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KSISTI-PUCK LLC  /  PRIVATE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DCE6C-6374-4943-8746-D2CAA0D4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00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Entangled Oracle is becoming a suite, not a single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56147-BD30-4EC9-B1A5-6CA3B6F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</a:defRPr>
            </a:pPr>
            <a:r>
              <a:rPr sz="1800" b="0">
                <a:solidFill>
                  <a:srgbClr val="5E6268"/>
                </a:solidFill>
              </a:rPr>
              <a:t>A local-first symbolic intelligence stack for calculated astrology, ritual interfaces, and consent-centered reflection products.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879FB-A52B-4F2C-8145-F960EC9F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"/>
            <a:ext cx="26289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6"/>
          </a:solidFill>
          <a:ln xmlns:a="http://schemas.openxmlformats.org/drawingml/2006/main" w="9525">
            <a:solidFill>
              <a:srgbClr val="1717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2F30E-8C75-4ADB-AC50-41C8FEAA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0F5B8-D2AE-4345-AC39-20D6D0C4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faa138dad40bd"/>
          <a:stretch xmlns:a="http://schemas.openxmlformats.org/drawingml/2006/main"/>
        </p:blipFill>
        <p:spPr>
          <a:xfrm xmlns:a="http://schemas.openxmlformats.org/drawingml/2006/main">
            <a:off x="9163050" y="1876425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2BB07-91C8-4609-B44A-61A40ED6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"/>
            <a:ext cx="26289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9058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CEEB4-9F7D-4B06-AC9F-02BEE2B1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MARKET 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2BC16-2722-4943-8466-4A03EF61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The opportunity is trustable depth in a market full of shallow mysticism.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9478B-8BA8-4DEB-BCAE-66DD02A9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</a:defRPr>
            </a:pPr>
            <a:r>
              <a:rPr sz="1800" b="0">
                <a:solidFill>
                  <a:srgbClr val="5E6268"/>
                </a:solidFill>
              </a:rPr>
              <a:t>People already seek symbolic guidance, but most products collapse into generic horoscopes, chatbot improvisation, or novelty mechanics. Entangled Oracle can occupy the deeper lane: inspectable computation, authored interpretation, and respectful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0290-3C27-4A01-90DB-E82368F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564AE-9999-4F6C-AE25-83A9E47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B3487-B807-46FA-B91C-EA9498A5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1908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E6516-1FF3-4601-9DC7-0772D086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THE 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0FEA4-3205-4897-B508-79982ABB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33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One engine can support multiple serious consumer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8DE75-D322-4C74-AF7A-4032F9C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53E1D-45E4-437C-AF43-BAEEE78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1AEAB-BF19-40BF-86E2-68B8C0E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Calculated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747BB-95B2-4BE3-8C83-2F631B0E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Swiss Ephemeris, Whole Sign methodology, formula layers, authored blocks, HTML/PDF output, manifest sidecars.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58378-DA90-4E2F-8B49-D314CB10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RITUAL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C5041-D63E-4C62-8783-73E2026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Tarot and rune apps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726D7-F657-4D30-BDFA-8CDCD69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Deterministic entropy locking, validated content packs, reading journals, and modality-specific user 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67B07-00A4-4EB2-87CC-42295A57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E9B82"/>
                </a:solidFill>
              </a:defRPr>
            </a:pPr>
            <a:r>
              <a:rPr sz="1200" b="1">
                <a:solidFill>
                  <a:srgbClr val="7E9B82"/>
                </a:solidFill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A4A6D-5B73-457F-8EF2-FAAEDD07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Reflection and studio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0335D-839D-4B50-9130-4E53B17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Dashboard, optional synthesis, Report Studio beta, and Shadow Compass adjacency for consent-aware inner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08EF5-3137-4C83-9EAF-01B4388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F0D42-23D2-4CBA-95E3-D1EAFD9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8292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E878D-51F0-4E3F-879A-BF06EE7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SUITE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1CE0D-65FD-4DCD-A3F6-CC58EFCA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ecosystem already has four product lanes with shared DNA.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EEB3-E986-47D4-BF5B-9D4A969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552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4F868-32D3-43F8-95C5-202E625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552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9BF7E-2165-47C9-A056-216DE3ED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Report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1DD1-7395-4204-8C13-FE97A97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</a:defRPr>
            </a:pPr>
            <a:r>
              <a:rPr sz="1275" b="0">
                <a:solidFill>
                  <a:srgbClr val="5E6268"/>
                </a:solidFill>
              </a:rPr>
              <a:t>Year Ahead, Personal Forecast, Soul Ecosystem, Horoscope, weekly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4E474-E36B-486C-8CC7-6E63D07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05050"/>
            <a:ext cx="2552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B2F79-47BF-4B0B-9D69-C009DBFD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05050"/>
            <a:ext cx="2552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2"/>
          </a:solidFill>
          <a:ln xmlns:a="http://schemas.openxmlformats.org/drawingml/2006/main" w="9525">
            <a:solidFill>
              <a:srgbClr val="7E9B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46A6D-399F-4745-859B-94B9C0D1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05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Report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EBDBA-725F-49D5-A1D0-91A6B0F8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623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</a:defRPr>
            </a:pPr>
            <a:r>
              <a:rPr sz="1275" b="0">
                <a:solidFill>
                  <a:srgbClr val="5E6268"/>
                </a:solidFill>
              </a:rPr>
              <a:t>Private Flask beta wrapper around the local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F7B3A-96CC-4D38-8980-85C1106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552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04D46-74C9-4892-975F-51A916B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552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4F"/>
          </a:solidFill>
          <a:ln xmlns:a="http://schemas.openxmlformats.org/drawingml/2006/main" w="9525">
            <a:solidFill>
              <a:srgbClr val="B864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A537-8773-4CE6-8D4C-7E1C6553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Oracle Apps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8D119-4ACC-4987-B90C-42B234D0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</a:defRPr>
            </a:pPr>
            <a:r>
              <a:rPr sz="1275" b="0">
                <a:solidFill>
                  <a:srgbClr val="5E6268"/>
                </a:solidFill>
              </a:rPr>
              <a:t>Android rune/tarot split plus localhost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DD72A-196A-4A3C-BEB2-6FCED8AD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05050"/>
            <a:ext cx="2552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7C91F-F08D-4E57-B8B9-B2722EEF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05050"/>
            <a:ext cx="2552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BAA"/>
          </a:solidFill>
          <a:ln xmlns:a="http://schemas.openxmlformats.org/drawingml/2006/main" w="9525">
            <a:solidFill>
              <a:srgbClr val="8D7B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ABD94-D1D3-4F65-971D-2CCB9D42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05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Shadow Compass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A123A-F130-4176-A5CA-68062CD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5623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68"/>
                </a:solidFill>
              </a:defRPr>
            </a:pPr>
            <a:r>
              <a:rPr sz="1275" b="0">
                <a:solidFill>
                  <a:srgbClr val="5E6268"/>
                </a:solidFill>
              </a:rPr>
              <a:t>Adjacent inner-work platform with privacy and AI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3A29F-6216-4D32-9B5A-D268288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pattern: local-first computation, transparent provenance, authored symbolic content, and explicit limits.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865F8-7DF4-4D4C-8852-C706ABBB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B512A-B88E-4A5E-8457-DB4F5EB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7704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7E43D-74CB-48E3-A1F2-BCB5706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CURRENT 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9EB39-764A-4C3D-AA87-56483B6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This is not just a concept deck. There is working product surface 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58AFE-B6A1-48E6-8C19-D7D55B8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72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13F1B-FF7A-448F-BC8A-0898A8D7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root regression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5D377-E54C-4DA0-B9DD-B729911A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8644F"/>
                </a:solidFill>
              </a:defRPr>
            </a:pPr>
            <a:r>
              <a:rPr sz="4050" b="1">
                <a:solidFill>
                  <a:srgbClr val="B8644F"/>
                </a:solidFill>
              </a:rPr>
              <a:t>122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4ACD-88B1-4305-9BD2-8A36F41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product JSON content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95D2-BDC1-4410-BC0C-75DA1024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E9B82"/>
                </a:solidFill>
              </a:defRPr>
            </a:pPr>
            <a:r>
              <a:rPr sz="4050" b="1">
                <a:solidFill>
                  <a:srgbClr val="7E9B82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7D6EF-58D5-45FC-85FB-4AB8764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HTML report templates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31F4D-AF4A-4B4C-B803-02636F60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118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6190C-5BB7-4F43-ADE3-C55E7C4C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engine/formula/app Python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5C129-5406-4DB6-9359-7A5E96B8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8644F"/>
                </a:solidFill>
              </a:defRPr>
            </a:pPr>
            <a:r>
              <a:rPr sz="4050" b="1">
                <a:solidFill>
                  <a:srgbClr val="B8644F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1260B-F090-497F-86AD-E343661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Android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36F3F-E3F5-4AAD-AFC1-9FD9C0F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E9B82"/>
                </a:solidFill>
              </a:defRPr>
            </a:pPr>
            <a:r>
              <a:rPr sz="4050" b="1">
                <a:solidFill>
                  <a:srgbClr val="7E9B82"/>
                </a:solidFill>
              </a:rPr>
              <a:t>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B0A1E-62E4-41AF-9339-1E5FAF2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268"/>
                </a:solidFill>
              </a:defRPr>
            </a:pPr>
            <a:r>
              <a:rPr sz="1425" b="0">
                <a:solidFill>
                  <a:srgbClr val="5E6268"/>
                </a:solidFill>
              </a:rPr>
              <a:t>Shadow Compass TS/TSX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63AA6-6308-47DF-834C-876A3BB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268"/>
                </a:solidFill>
              </a:defRPr>
            </a:pPr>
            <a:r>
              <a:rPr sz="1050" b="0">
                <a:solidFill>
                  <a:srgbClr val="5E6268"/>
                </a:solidFill>
              </a:rPr>
              <a:t>Counts are from the local repositories and exclude generated build artifacts where relevant.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0905B-3CCA-4D4D-B434-25CB1D81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3164A-B130-4AD0-89BF-15EAEBF5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9025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4642B-29A3-4D8C-A998-5152451F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REPORT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940EC-A850-4E2A-A871-364808A8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core moat is a report pipeline with traceable calculation and prose routing.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2D96D-5849-4CF6-B2BC-62E66F3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345E-05B3-45C0-AA7A-BB70A62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7F2C8-2A90-4D23-A1D3-93EA8824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Birth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DF254-52EF-448A-82F5-21E8BF54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24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BCC4"/>
                </a:solidFill>
              </a:defRPr>
            </a:pPr>
            <a:r>
              <a:rPr sz="2100" b="0">
                <a:solidFill>
                  <a:srgbClr val="B8BCC4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93DC4-A5A5-4B83-AC97-F5F2AC1C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8322E-7122-4522-B866-7BF769CC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FE218-B54C-4610-874A-34EF55FC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Swiss Ephemeris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3C6B0-9E3E-4D45-9A71-F9068B8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24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BCC4"/>
                </a:solidFill>
              </a:defRPr>
            </a:pPr>
            <a:r>
              <a:rPr sz="2100" b="0">
                <a:solidFill>
                  <a:srgbClr val="B8BCC4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35375-51F9-4197-AF2A-28CCDB88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9F1B5-1413-44C3-9029-BD982122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47FA0-2F10-4EB8-963F-03A26FE8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Formula layers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A4165-8462-45E4-BB00-80E3A2A7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BCC4"/>
                </a:solidFill>
              </a:defRPr>
            </a:pPr>
            <a:r>
              <a:rPr sz="2100" b="0">
                <a:solidFill>
                  <a:srgbClr val="B8BCC4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61118-C4B4-4859-AB27-5D9FC877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28F71-F0B3-4339-9EC1-38509A4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4F232-B552-45E7-B338-6D847B15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Variable resolver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86188-E1F7-4847-B714-42867B2E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BCC4"/>
                </a:solidFill>
              </a:defRPr>
            </a:pPr>
            <a:r>
              <a:rPr sz="2100" b="0">
                <a:solidFill>
                  <a:srgbClr val="B8BCC4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40F2EE-4BF7-42C3-BA99-9B7C9436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11D10-E69B-43C2-BD90-F80FDDD9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D25BE-7F90-4892-B78E-61C1C7D7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Authored block library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9F132-538F-4236-8131-D904852A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BCC4"/>
                </a:solidFill>
              </a:defRPr>
            </a:pPr>
            <a:r>
              <a:rPr sz="2100" b="0">
                <a:solidFill>
                  <a:srgbClr val="B8BCC4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105C9-0003-4B86-9636-6E9726F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1485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39DFB-B8D1-4D41-A49B-F8EB856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95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8455D-1E22-4CB3-9670-8977C48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76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HTML + manifest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54FEE-D066-49C2-895D-B7900537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</a:defRPr>
            </a:pPr>
            <a:r>
              <a:rPr sz="1650" b="0">
                <a:solidFill>
                  <a:srgbClr val="5E6268"/>
                </a:solidFill>
              </a:rPr>
              <a:t>Active report versions include Horoscope v1.0, Personal Forecast v1.0, Soul Ecosystem v1.0, Weekly Horoscope v0.1, and Year Ahead v2.0.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B1F2E-3435-4592-95B2-82C39492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A8644-874D-4221-A21D-A684F86E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0049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16FE7-DAF6-4CDD-9933-8C588015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WHY IT CAN BE TRUSTED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99E73-A2D9-4AB7-8004-D7C6C972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brand promise is not certainty. It is method, boundary, and provenance.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E018D-D286-4700-926B-A9393886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A1301-75F9-49EF-9E38-1B51523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Declared astrological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9AB38-2D31-4BA1-846E-BC102CF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Tropical zodiac, Whole Sign houses, Swiss Ephemeris, true node, mean Black Moon Lilith, and birth-time confidence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F4F1D-9A08-4838-A597-EC682FE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62C25-92AA-47D2-80C8-64963D3B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Non-deterministic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CC039-EF61-4A87-A6A5-EE91F26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Timing windows describe emphasis and activation, not fixed future events, diagnosis, or professional advice.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ECCB7-B2B2-4E49-B5E7-11CA1175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E9B82"/>
                </a:solidFill>
              </a:defRPr>
            </a:pPr>
            <a:r>
              <a:rPr sz="1200" b="1">
                <a:solidFill>
                  <a:srgbClr val="7E9B82"/>
                </a:solidFill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3B825-2912-422E-AE8E-C9C4C96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Versioned output posture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1FCFD-2F62-4E1B-85E1-CB0D44E9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Report manifests record versions, methodology labels, active modules, warnings, and report-surface traces.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51DCB-1A06-428C-BEC5-573ACB92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AA6FC-114C-4A45-BB87-E441F3FF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822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219B4-3C67-4F93-BAFC-FAD5117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MOBILE AND RITUAL SURFACES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2B981-04EC-4CB0-A93F-DEEDC97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consumer apps turn the same seriousness into tactile daily practice.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0BE6-CDCA-446C-AD0A-72F0DCAF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0CB57-A296-4092-8F11-DEAF45A7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Rune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65C7-9A41-48CA-A0C7-28F2082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Live-field casting, entropy lock, Nine Worlds interpretive structure, freehand field cast, local journal.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C38E7-A5B0-4131-BA93-48CD383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21634-25D0-4CBF-94C9-19BE32F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Tarot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3ADDD-B415-4BE3-84D5-68C03C96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Locked spreads, validated 78-card content pack, card study, orientation logic, reading journal.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356BF-ABA0-42D3-A1F1-9272ADF5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105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4C70A-5626-424F-8D68-42569D2A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Shared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ADB50-3752-4E9E-B0B1-D5A9024E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28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Entropy harvesting, deterministic hash routing, reading records, persistence, shared validation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FA3DE-74AF-4E68-90FD-53D10A84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141D4-19A0-4930-81D4-5690876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6520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AFE2B-C822-4E6E-BBB0-F2B29AE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ENTANGLED ASTROLOGY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4346B-0547-47D5-90AB-044AC39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native astrology app is an inspectable mobile client for the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87C8A-25BD-4ACA-9529-3E48D79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E4FD9-CD89-4E2C-92C2-75CDBCE5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Today, Timeline, Chart, Places, Library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483B-7C56-45EC-BA8B-44DB38E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A mobile-first app shell focused on what is active, when it peaks, and why the interpretation says what it says.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15AC4-060F-4766-9ECC-59D1723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57D3F-5FF3-439A-BDBC-5E4F694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No fabricated astrology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6F820-425B-4C61-9567-BD1C185B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The app renders validated engine responses; unsupported surfaces remain visibly unavailable.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9A12D-3328-4868-8E9C-5AA83B53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E9B82"/>
                </a:solidFill>
              </a:defRPr>
            </a:pPr>
            <a:r>
              <a:rPr sz="1200" b="1">
                <a:solidFill>
                  <a:srgbClr val="7E9B82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54793-0590-431C-82A5-C529D3B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FastAPI adapter over the existing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FCDDC-E176-4694-BE63-27EF643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A typed Ktor client talks to a local development backend that wraps the Python calculation/report engine.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44E6A-C22A-482D-8705-2D0D128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25609-CAE5-4E5A-8A4A-D30BB366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7360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35B73-9C23-438A-ABE4-6A43BEA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7BAA"/>
                </a:solidFill>
              </a:defRPr>
            </a:pPr>
            <a:r>
              <a:rPr sz="1200" b="1">
                <a:solidFill>
                  <a:srgbClr val="8D7BAA"/>
                </a:solidFill>
              </a:rPr>
              <a:t>SHADOW COMPASS ADJACENCY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A3099-11C3-4E48-8FB1-44BFC61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Shadow Compass expands the suite into consent-centered reflection.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9E96C-3356-4414-8343-27F1CFDB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7E419-996F-4056-ADB0-19993EF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Notice the pattern -&gt; shift the state -&gt; reflect with structure -&gt; choose an aligned response -&gt; review change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C27F4-C8BF-48F9-AB8D-72925514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7BAA"/>
                </a:solidFill>
              </a:defRPr>
            </a:pPr>
            <a:r>
              <a:rPr sz="1200" b="1">
                <a:solidFill>
                  <a:srgbClr val="8D7BAA"/>
                </a:solidFill>
              </a:rPr>
              <a:t>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2837C-BB7A-4B69-A70A-C30E3B0F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Modular monolith with PWA shell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8B917-2F03-40AE-8E87-F27EF14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Consumer routes, Studio/Admin placeholders, Prisma blueprint, domain modules, and demo-first persistence.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771BA-915A-46A0-8524-4BB6F953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AFFDF-62C6-45C4-B705-E2A995F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Gateway-bound and hypothesis-led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459C2-F50D-4482-A0D6-E0BFC6D1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AI is typed, provider-neutral, schema-validated, and explicitly not crisis counseling or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F71DF-6328-4F91-9A0B-87CEE5E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E9B82"/>
                </a:solidFill>
              </a:defRPr>
            </a:pPr>
            <a:r>
              <a:rPr sz="1200" b="1">
                <a:solidFill>
                  <a:srgbClr val="7E9B82"/>
                </a:solidFill>
              </a:rPr>
              <a:t>PRIVACY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50ACE-38F1-442C-9478-CC4C7BC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Sensitive text is purpose-bound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9A0B0-3D79-402C-AC30-6CDA90AB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Consent flags govern AI analysis, reports, and practitioner sharing; analytics receives sanitized metadata.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AC4E4-9367-40D0-A64A-D5EB20D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CF93E-982F-4A0E-8124-33918D0B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2068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89B3B-AC0D-4786-9493-CCED1067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8EB53-1B03-4C28-A7EE-C8C193FF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Start controlled, earn trust, then widen access.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160BB-B7F8-41E2-B181-43B4743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6E071-A0B4-4AB7-BAC8-4AF77BA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1. Controlled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DBF7-C770-4A43-965D-5C68AA3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Manual report generation, fixed review pack, feedback intake, no public self-serve birth-data flow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09630-8E8D-46DF-AFF5-B1CCACE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9E082-D20E-4258-8A88-1CE198A2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2. Practitioner and partner demos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7E431-723B-4543-9BA1-E53B517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Side-by-side reports, methodology overview, sample comparisons, local QA and PDF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F02E7-D543-4E37-AF87-9EBB2A39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DBD48-1A45-4EE5-9F4F-DA83C365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3. Consumer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D1DDE-DCA6-47BB-BFCA-8B363EA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68"/>
                </a:solidFill>
              </a:defRPr>
            </a:pPr>
            <a:r>
              <a:rPr sz="1350" b="0">
                <a:solidFill>
                  <a:srgbClr val="5E6268"/>
                </a:solidFill>
              </a:rPr>
              <a:t>Private Studio, native mobile clients, dashboard, and optional reflection features after privacy and hosting controls mature.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4C113-1E82-4CA4-BC17-DE78266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7D87-78E7-42BA-83D3-923A46B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0118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4260E-8155-4B06-AA32-CDB3BC9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E1A5-01AC-41DE-839A-9D5D25C9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next work is less about inventing features than hardening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F8E61-F4A7-432B-A4D0-EB1A067D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97B01-C70C-4505-9771-70D82119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24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42F99-08BE-42DE-936E-3F7294C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</a:defRPr>
            </a:pPr>
            <a:r>
              <a:rPr sz="1650" b="0">
                <a:solidFill>
                  <a:srgbClr val="5E6268"/>
                </a:solidFill>
              </a:rPr>
              <a:t>Report Studio beta, review-pack demos, app split boundaries, content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5CCE7-CF51-424C-AE4A-C243976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644F"/>
                </a:solidFill>
              </a:defRPr>
            </a:pPr>
            <a:r>
              <a:rPr sz="2100" b="1">
                <a:solidFill>
                  <a:srgbClr val="B8644F"/>
                </a:solidFill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3E2BE-53CC-434E-8417-F4F28BA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480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4F"/>
          </a:solidFill>
          <a:ln xmlns:a="http://schemas.openxmlformats.org/drawingml/2006/main" w="0">
            <a:solidFill>
              <a:srgbClr val="B864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DFEC9-2108-489D-BB96-9DACF8D1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</a:defRPr>
            </a:pPr>
            <a:r>
              <a:rPr sz="1650" b="0">
                <a:solidFill>
                  <a:srgbClr val="5E6268"/>
                </a:solidFill>
              </a:rPr>
              <a:t>Predictive sidecar export, raw event provenance, public-safe manifests, mobile polish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43E3A-BE56-41F5-800A-DE321F2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E9B82"/>
                </a:solidFill>
              </a:defRPr>
            </a:pPr>
            <a:r>
              <a:rPr sz="2100" b="1">
                <a:solidFill>
                  <a:srgbClr val="7E9B82"/>
                </a:solidFill>
              </a:rPr>
              <a:t>Later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86915-83F0-45C4-90BC-12A14B90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720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82"/>
          </a:solidFill>
          <a:ln xmlns:a="http://schemas.openxmlformats.org/drawingml/2006/main" w="0">
            <a:solidFill>
              <a:srgbClr val="7E9B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DDFA4-6765-4B7F-9220-C83A028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68"/>
                </a:solidFill>
              </a:defRPr>
            </a:pPr>
            <a:r>
              <a:rPr sz="1650" b="0">
                <a:solidFill>
                  <a:srgbClr val="5E6268"/>
                </a:solidFill>
              </a:rPr>
              <a:t>Asteroid forecast activation, long-clock chapters, practitioner Studio, paid/self-serve gating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65C20-A3E1-4C53-94CB-6DDC1852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4A154-8455-426C-898A-112F1CA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6625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0A1F-493E-4F68-9885-85631A4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RISKS AND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9720C-DB67-48E2-830F-9DA4453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strongest pitch is honest about what is not ready yet.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2397-E3D3-4032-9564-F0B12752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4F"/>
                </a:solidFill>
              </a:defRPr>
            </a:pPr>
            <a:r>
              <a:rPr sz="1200" b="1">
                <a:solidFill>
                  <a:srgbClr val="B8644F"/>
                </a:solidFill>
              </a:rPr>
              <a:t>PREDICTIVE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92AA4-904E-439B-977B-4D93360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Strong scaffolding, incomplete validation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53FC4-40EE-4E18-8917-E7B76AD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The engine computes signal/window concepts, but raw predictive evidence needs a durable sidecar before bolder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34FC-B21C-4FA8-A300-E5DC3A92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9455"/>
                </a:solidFill>
              </a:defRPr>
            </a:pPr>
            <a:r>
              <a:rPr sz="1200" b="1">
                <a:solidFill>
                  <a:srgbClr val="B39455"/>
                </a:solidFill>
              </a:rPr>
              <a:t>DAILY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5FE2E-88ED-4A2B-B367-07F1399D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Daily Horoscope needs reproducibility hardening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7AAB-9174-4D9A-8F12-F84A4D56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The current audit says daily generation is tied to system date rather than the requested report 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823E4-93F7-4C67-93E7-45E16AB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7BAA"/>
                </a:solidFill>
              </a:defRPr>
            </a:pPr>
            <a:r>
              <a:rPr sz="1200" b="1">
                <a:solidFill>
                  <a:srgbClr val="8D7BAA"/>
                </a:solidFill>
              </a:rPr>
              <a:t>PRIVACY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609E5-5A92-465D-8ECC-2DD47D1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 self-serve needs deliberate 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661C3-A253-402C-984F-191EED06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68"/>
                </a:solidFill>
              </a:defRPr>
            </a:pPr>
            <a:r>
              <a:rPr sz="1200" b="0">
                <a:solidFill>
                  <a:srgbClr val="5E6268"/>
                </a:solidFill>
              </a:rPr>
              <a:t>Accounts, deletion, rate limits, payment, hosted generation, and public-safe manifests remain deferred.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967BF-416B-4904-B19A-9623725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C05E5-CEDF-43C0-9711-5E044ED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12912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2BA4A-6EEF-4950-99A3-69FAC22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13E96-350B-4FD0-85A8-4DD4DD86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The ask: support the move from powerful local system to controlled beta suite.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A5B7A-A8FF-4C0E-B5AC-0021C1D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268"/>
                </a:solidFill>
              </a:defRPr>
            </a:pPr>
            <a:r>
              <a:rPr sz="1800" b="0">
                <a:solidFill>
                  <a:srgbClr val="5E6268"/>
                </a:solidFill>
              </a:rPr>
              <a:t>Near-term support should fund hardening, QA, privacy-safe infrastructure, design polish, and partner-ready demo materials before broad public self-serve launch.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7B6C-9A71-4E60-8731-04FAAEE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01E2B-9EB6-487D-A8B4-3F099D2D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Entangled Oracle suite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2D3D-CFF2-46DF-A119-7CC17F4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68"/>
                </a:solidFill>
              </a:defRPr>
            </a:pPr>
            <a:r>
              <a:rPr sz="900" b="0">
                <a:solidFill>
                  <a:srgbClr val="5E626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38661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2026-07-20T02:27:09.7910000Z</dcterms:created>
  <dcterms:modified xsi:type="dcterms:W3CDTF">2026-07-20T02:27:09.7910000Z</dcterms:modified>
</coreProperties>
</file>